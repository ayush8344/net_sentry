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4480560" cy="365760"/>
          </a:xfrm>
          <a:prstGeom prst="roundRect">
            <a:avLst>
              <a:gd name="adj" fmla="val 50000"/>
            </a:avLst>
          </a:prstGeom>
          <a:solidFill>
            <a:srgbClr val="0E1526"/>
          </a:solidFill>
          <a:ln w="9525">
            <a:solidFill>
              <a:srgbClr val="9BA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1050" b="0" i="0">
                <a:solidFill>
                  <a:srgbClr val="9BA8C7"/>
                </a:solidFill>
                <a:latin typeface="Consolas"/>
              </a:rPr>
              <a:t>●  SYSTEM ONLINE  ·  RadiantBoost GB+XGB  ·  threshold 0.891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2D3EE"/>
                </a:solidFill>
                <a:latin typeface="Consolas"/>
              </a:rPr>
              <a:t>PROJECT REVIEW  ·  ADVANCED ML / NETWORK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74980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E9EEFA"/>
                </a:solidFill>
                <a:latin typeface="Segoe UI Semibold"/>
              </a:rPr>
              <a:t>NetSentry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65176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DD4BF"/>
                </a:solidFill>
                <a:latin typeface="Segoe UI Semibold"/>
              </a:rPr>
              <a:t>Explainable, ML-Driven Network Intrusion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0"/>
            <a:ext cx="7223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9BA8C7"/>
                </a:solidFill>
                <a:latin typeface="Segoe UI"/>
              </a:rPr>
              <a:t>From raw flow features to a calibrated verdict, a SHAP explanation, and an analyst-readable narrative — closing the gap Wireshark and Zeek leave open.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6949440" cy="1371600"/>
          </a:xfrm>
          <a:prstGeom prst="roundRect">
            <a:avLst>
              <a:gd name="adj" fmla="val 6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99A"/>
                </a:solidFill>
                <a:latin typeface="Consolas"/>
              </a:rPr>
              <a:t>SUBMITTED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425696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9EEFA"/>
                </a:solidFill>
                <a:latin typeface="Segoe UI"/>
              </a:rPr>
              <a:t>Name:  ____________________________________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64608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9EEFA"/>
                </a:solidFill>
                <a:latin typeface="Segoe UI"/>
              </a:rPr>
              <a:t>Registration No.:  ____________________________________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577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99A"/>
                </a:solidFill>
                <a:latin typeface="Segoe UI"/>
              </a:rPr>
              <a:t>Course / Guide:  ____________________________________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502920"/>
            <a:ext cx="3429000" cy="544068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77724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6B799A"/>
                </a:solidFill>
                <a:latin typeface="Consolas"/>
              </a:rPr>
              <a:t>SYSTEM AT A GLANCE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234440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2D3EE"/>
                </a:solidFill>
                <a:latin typeface="Segoe UI Semibold"/>
              </a:rPr>
              <a:t>97.6%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46504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Held-out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30552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DD4BF"/>
                </a:solidFill>
                <a:latin typeface="Segoe UI Semibold"/>
              </a:rPr>
              <a:t>0.971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42616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ROC-AUC (RadiantBoost)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026664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A78BFA"/>
                </a:solidFill>
                <a:latin typeface="Segoe UI Semibold"/>
              </a:rPr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38728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Engineered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922776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2D3EE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43484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Real-schema datasets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1888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34D399"/>
                </a:solidFill>
                <a:latin typeface="Segoe UI Semibold"/>
              </a:rPr>
              <a:t>19 / 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33095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Automated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WHAT THIS DECK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E9EEFA"/>
                </a:solidFill>
                <a:latin typeface="Segoe UI Semibold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965960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2D3EE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1016" y="1993391"/>
            <a:ext cx="45354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Motivation — the gap in Wireshark / Zeek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532888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2D3EE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016" y="2560320"/>
            <a:ext cx="45354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Positioning — where NetSentry fits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099816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2D3EE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3127248"/>
            <a:ext cx="45354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66744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2D3EE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3694176"/>
            <a:ext cx="45354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System architecture — six-phase pipeline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33672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2D3EE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4261104"/>
            <a:ext cx="45354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Data collection — one schema, many sources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800600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2D3EE"/>
                </a:solidFill>
                <a:latin typeface="Segoe U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4828032"/>
            <a:ext cx="45354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Feature engineering — 23 engineered features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367528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2D3EE"/>
                </a:solidFill>
                <a:latin typeface="Segoe U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5394960"/>
            <a:ext cx="45354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Unsupervised layer — clustering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1965960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DD4BF"/>
                </a:solidFill>
                <a:latin typeface="Segoe U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1993391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Detection — three model tracks, and why Gradient Boosting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2532888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DD4BF"/>
                </a:solidFill>
                <a:latin typeface="Segoe U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2560320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Explainability — SHAP, and attack-family logic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3099816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2DD4BF"/>
                </a:solidFill>
                <a:latin typeface="Segoe U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3127248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LLM narrative layer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3666744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2DD4BF"/>
                </a:solidFill>
                <a:latin typeface="Segoe U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3694176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The product — live screenshots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4233672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2DD4BF"/>
                </a:solidFill>
                <a:latin typeface="Segoe UI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4261104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Evaluation results — including the generalization gap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4800600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2DD4BF"/>
                </a:solidFill>
                <a:latin typeface="Segoe UI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4828032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Engineering rigor — bugs found and fixed</a:t>
            </a:r>
          </a:p>
        </p:txBody>
      </p:sp>
      <p:sp>
        <p:nvSpPr>
          <p:cNvPr id="30" name="Oval 29"/>
          <p:cNvSpPr/>
          <p:nvPr/>
        </p:nvSpPr>
        <p:spPr>
          <a:xfrm>
            <a:off x="6309360" y="5367528"/>
            <a:ext cx="347472" cy="347472"/>
          </a:xfrm>
          <a:prstGeom prst="ellipse">
            <a:avLst/>
          </a:prstGeom>
          <a:solidFill>
            <a:srgbClr val="121B33"/>
          </a:solidFill>
          <a:ln w="1397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2DD4BF"/>
                </a:solidFill>
                <a:latin typeface="Segoe UI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3136" y="5394960"/>
            <a:ext cx="46268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Novelty, future work, and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THE GAP IN TODAY'S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Neither packet inspector learns, scores, or explains.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BA8C7"/>
                </a:solidFill>
                <a:latin typeface="Segoe UI"/>
              </a:rPr>
              <a:t>Wireshark and Zeek remain the backbone of network forensics — but both stop short of an automated, calibrated, explained verdict.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120640" cy="233172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2D3EE"/>
                </a:solidFill>
                <a:latin typeface="Consolas"/>
              </a:rPr>
              <a:t>WIRESHARK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9BA8C7"/>
                </a:solidFill>
                <a:latin typeface="Segoe UI"/>
              </a:rPr>
              <a:t>A human manually applies filters and recognizes patterns visually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9BA8C7"/>
                </a:solidFill>
                <a:latin typeface="Segoe UI"/>
              </a:rPr>
              <a:t>No built-in ML, no automated scoring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9BA8C7"/>
                </a:solidFill>
                <a:latin typeface="Segoe UI"/>
              </a:rPr>
              <a:t>Doesn't scale to continuous classification of large traffic volumes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423160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606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DD4BF"/>
                </a:solidFill>
                <a:latin typeface="Consolas"/>
              </a:rPr>
              <a:t>ZEEK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97180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9BA8C7"/>
                </a:solidFill>
                <a:latin typeface="Segoe UI"/>
              </a:rPr>
              <a:t>Logs structured flow records, flags traffic via handwritten scripts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9BA8C7"/>
                </a:solidFill>
                <a:latin typeface="Segoe UI"/>
              </a:rPr>
              <a:t>Detection is rule/signature-based, not learned from data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9BA8C7"/>
                </a:solidFill>
                <a:latin typeface="Segoe UI"/>
              </a:rPr>
              <a:t>No calibrated probability scores, no explainability of why something was flagged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029200"/>
            <a:ext cx="10789920" cy="1051560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30368"/>
            <a:ext cx="10149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1">
                <a:solidFill>
                  <a:srgbClr val="E9EEFA"/>
                </a:solidFill>
                <a:latin typeface="Segoe UI"/>
              </a:rPr>
              <a:t>Neither tool closes the loop from raw traffic to an explained, automated threat verdict — that's the gap NetSentry targets.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WHERE NETSENTRY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Six capabilities, measured — not claimed.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BA8C7"/>
                </a:solidFill>
                <a:latin typeface="Segoe UI"/>
              </a:rPr>
              <a:t>Every checkmark corresponds to a running code path in this build, not a roadmap item.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331720"/>
          <a:ext cx="10789918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1874519"/>
                <a:gridCol w="1874519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B799A"/>
                          </a:solidFill>
                          <a:latin typeface="Consolas"/>
                        </a:rPr>
                        <a:t>CAPABILITY</a:t>
                      </a:r>
                    </a:p>
                  </a:txBody>
                  <a:tcPr marL="109728" marR="109728" marT="36576" marB="36576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799A"/>
                          </a:solidFill>
                          <a:latin typeface="Consolas"/>
                        </a:rPr>
                        <a:t>WIRESHARK</a:t>
                      </a:r>
                    </a:p>
                  </a:txBody>
                  <a:tcPr marL="109728" marR="109728" marT="36576" marB="36576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799A"/>
                          </a:solidFill>
                          <a:latin typeface="Consolas"/>
                        </a:rPr>
                        <a:t>ZEEK</a:t>
                      </a:r>
                    </a:p>
                  </a:txBody>
                  <a:tcPr marL="109728" marR="109728" marT="36576" marB="36576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799A"/>
                          </a:solidFill>
                          <a:latin typeface="Consolas"/>
                        </a:rPr>
                        <a:t>NETSENTRY</a:t>
                      </a:r>
                    </a:p>
                  </a:txBody>
                  <a:tcPr marL="109728" marR="109728" marT="36576" marB="36576" anchor="ctr">
                    <a:solidFill>
                      <a:srgbClr val="121B3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E9EEFA"/>
                          </a:solidFill>
                          <a:latin typeface="Segoe UI"/>
                        </a:rPr>
                        <a:t>Automated, continuous scoring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87171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FBBF24"/>
                          </a:solidFill>
                          <a:latin typeface="Consolas"/>
                        </a:rPr>
                        <a:t>~ Partial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34D39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E9EEFA"/>
                          </a:solidFill>
                          <a:latin typeface="Segoe UI"/>
                        </a:rPr>
                        <a:t>Learns patterns from data (ML)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87171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87171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34D39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E9EEFA"/>
                          </a:solidFill>
                          <a:latin typeface="Segoe UI"/>
                        </a:rPr>
                        <a:t>Calibrated probability scores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87171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87171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34D39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E9EEFA"/>
                          </a:solidFill>
                          <a:latin typeface="Segoe UI"/>
                        </a:rPr>
                        <a:t>Per-detection explainability (SHAP)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87171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87171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34D39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E9EEFA"/>
                          </a:solidFill>
                          <a:latin typeface="Segoe UI"/>
                        </a:rPr>
                        <a:t>Analyst-readable narrative output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87171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87171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34D39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E9EEFA"/>
                          </a:solidFill>
                          <a:latin typeface="Segoe UI"/>
                        </a:rPr>
                        <a:t>Works fully offline / zero-cost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34D39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34D39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34D39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What NetSentry set out to 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3456432" cy="196596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194560"/>
            <a:ext cx="384048" cy="384048"/>
          </a:xfrm>
          <a:prstGeom prst="ellipse">
            <a:avLst/>
          </a:prstGeom>
          <a:solidFill>
            <a:srgbClr val="121B3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2D3EE"/>
                </a:solidFill>
                <a:latin typeface="Segoe UI Semi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999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9EEFA"/>
                </a:solidFill>
                <a:latin typeface="Segoe UI"/>
              </a:rPr>
              <a:t>Automate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Replace manual filter-based inspection with a continuously scoring ML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65960"/>
            <a:ext cx="3456432" cy="196596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0" y="2194560"/>
            <a:ext cx="384048" cy="384048"/>
          </a:xfrm>
          <a:prstGeom prst="ellipse">
            <a:avLst/>
          </a:prstGeom>
          <a:solidFill>
            <a:srgbClr val="121B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DD4BF"/>
                </a:solidFill>
                <a:latin typeface="Segoe UI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2999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9EEFA"/>
                </a:solidFill>
                <a:latin typeface="Segoe UI"/>
              </a:rPr>
              <a:t>Calibrate the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46120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Produce a true probability — not a raw margin — so a threshold means something (95% TPR / ≤2% FPR).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965960"/>
            <a:ext cx="3456432" cy="196596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0" y="2194560"/>
            <a:ext cx="384048" cy="384048"/>
          </a:xfrm>
          <a:prstGeom prst="ellipse">
            <a:avLst/>
          </a:prstGeom>
          <a:solidFill>
            <a:srgbClr val="121B3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78BFA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43200"/>
            <a:ext cx="2999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9EEFA"/>
                </a:solidFill>
                <a:latin typeface="Segoe UI"/>
              </a:rPr>
              <a:t>Explain every verdict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46120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Attach signed, per-feature SHAP contributions to every flagged flow, not just a global importance chart.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33087"/>
            <a:ext cx="3456432" cy="196596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361688"/>
            <a:ext cx="384048" cy="384048"/>
          </a:xfrm>
          <a:prstGeom prst="ellipse">
            <a:avLst/>
          </a:prstGeom>
          <a:solidFill>
            <a:srgbClr val="121B3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2D3EE"/>
                </a:solidFill>
                <a:latin typeface="Segoe UI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10327"/>
            <a:ext cx="2999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9EEFA"/>
                </a:solidFill>
                <a:latin typeface="Segoe UI"/>
              </a:rPr>
              <a:t>Translate to plain 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13248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Turn numeric SHAP output into one analyst-readable sentence via an LLM layer, with a zero-cost offline fallback.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133087"/>
            <a:ext cx="3456432" cy="196596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0" y="4361688"/>
            <a:ext cx="384048" cy="384048"/>
          </a:xfrm>
          <a:prstGeom prst="ellipse">
            <a:avLst/>
          </a:prstGeom>
          <a:solidFill>
            <a:srgbClr val="121B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DD4BF"/>
                </a:solidFill>
                <a:latin typeface="Segoe UI Semi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10327"/>
            <a:ext cx="2999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9EEFA"/>
                </a:solidFill>
                <a:latin typeface="Segoe UI"/>
              </a:rPr>
              <a:t>Test generalization honestly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413248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Evaluate across three distinct traffic profiles to expose — not hide — distribution shift.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4133087"/>
            <a:ext cx="3456432" cy="196596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0" y="4361688"/>
            <a:ext cx="384048" cy="384048"/>
          </a:xfrm>
          <a:prstGeom prst="ellipse">
            <a:avLst/>
          </a:prstGeom>
          <a:solidFill>
            <a:srgbClr val="121B3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A78BFA"/>
                </a:solidFill>
                <a:latin typeface="Segoe UI Semibold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910327"/>
            <a:ext cx="2999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E9EEFA"/>
                </a:solidFill>
                <a:latin typeface="Segoe UI"/>
              </a:rPr>
              <a:t>Ship a real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413248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A working FastAPI backend and Next.js dashboard, not a notebook — with an automated test suite.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A six-phase pipeline, end to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BA8C7"/>
                </a:solidFill>
                <a:latin typeface="Segoe UI"/>
              </a:rPr>
              <a:t>Every phase is an independently testable Python module.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423160"/>
            <a:ext cx="777240" cy="777240"/>
          </a:xfrm>
          <a:prstGeom prst="ellipse">
            <a:avLst/>
          </a:prstGeom>
          <a:solidFill>
            <a:srgbClr val="121B33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22D3EE"/>
                </a:solidFill>
                <a:latin typeface="Segoe UI Semi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73552"/>
            <a:ext cx="14173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Data
Collection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45919" y="2811779"/>
            <a:ext cx="1152145" cy="0"/>
          </a:xfrm>
          <a:prstGeom prst="line">
            <a:avLst/>
          </a:prstGeom>
          <a:ln w="15875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798064" y="2423160"/>
            <a:ext cx="777240" cy="777240"/>
          </a:xfrm>
          <a:prstGeom prst="ellipse">
            <a:avLst/>
          </a:prstGeom>
          <a:solidFill>
            <a:srgbClr val="121B33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22D3EE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024" y="3273552"/>
            <a:ext cx="14173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Feature
Engineering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75304" y="2811779"/>
            <a:ext cx="1152144" cy="0"/>
          </a:xfrm>
          <a:prstGeom prst="line">
            <a:avLst/>
          </a:prstGeom>
          <a:ln w="15875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727448" y="2423160"/>
            <a:ext cx="777240" cy="777240"/>
          </a:xfrm>
          <a:prstGeom prst="ellipse">
            <a:avLst/>
          </a:prstGeom>
          <a:solidFill>
            <a:srgbClr val="121B33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22D3EE"/>
                </a:solidFill>
                <a:latin typeface="Segoe UI Semibol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3273552"/>
            <a:ext cx="14173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Protocol
Separation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04688" y="2811779"/>
            <a:ext cx="1152144" cy="0"/>
          </a:xfrm>
          <a:prstGeom prst="line">
            <a:avLst/>
          </a:prstGeom>
          <a:ln w="15875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656832" y="2423160"/>
            <a:ext cx="777240" cy="777240"/>
          </a:xfrm>
          <a:prstGeom prst="ellipse">
            <a:avLst/>
          </a:prstGeom>
          <a:solidFill>
            <a:srgbClr val="121B33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22D3EE"/>
                </a:solidFill>
                <a:latin typeface="Segoe UI Semi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273552"/>
            <a:ext cx="14173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Clustering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34072" y="2811779"/>
            <a:ext cx="1152144" cy="0"/>
          </a:xfrm>
          <a:prstGeom prst="line">
            <a:avLst/>
          </a:prstGeom>
          <a:ln w="15875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586216" y="2423160"/>
            <a:ext cx="777240" cy="777240"/>
          </a:xfrm>
          <a:prstGeom prst="ellipse">
            <a:avLst/>
          </a:prstGeom>
          <a:solidFill>
            <a:srgbClr val="121B33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22D3EE"/>
                </a:solidFill>
                <a:latin typeface="Segoe UI Semibold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273552"/>
            <a:ext cx="14173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Detection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63456" y="2811779"/>
            <a:ext cx="1152144" cy="0"/>
          </a:xfrm>
          <a:prstGeom prst="line">
            <a:avLst/>
          </a:prstGeom>
          <a:ln w="15875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515600" y="2423160"/>
            <a:ext cx="777240" cy="777240"/>
          </a:xfrm>
          <a:prstGeom prst="ellipse">
            <a:avLst/>
          </a:prstGeom>
          <a:solidFill>
            <a:srgbClr val="121B33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22D3EE"/>
                </a:solidFill>
                <a:latin typeface="Segoe UI Semibold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3273552"/>
            <a:ext cx="14173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Explain + LLM
+ Reporting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60520"/>
            <a:ext cx="3429000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4340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2D3EE"/>
                </a:solidFill>
                <a:latin typeface="Consolas"/>
              </a:rPr>
              <a:t>backend/app/main.py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BA8C7"/>
                </a:solidFill>
                <a:latin typeface="Segoe UI"/>
              </a:rPr>
              <a:t>FastAPI service — 11 REST endpoints, lifespan-managed model load, auto-trains on first boot.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4160520"/>
            <a:ext cx="3429000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434340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DD4BF"/>
                </a:solidFill>
                <a:latin typeface="Consolas"/>
              </a:rPr>
              <a:t>backend/app/training.py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466344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BA8C7"/>
                </a:solidFill>
                <a:latin typeface="Segoe UI"/>
              </a:rPr>
              <a:t>Orchestrates loaders → features → 3 model tracks → SHAP → clustering → persists artifacts.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5864" y="4160520"/>
            <a:ext cx="3429000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434340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78BFA"/>
                </a:solidFill>
                <a:latin typeface="Consolas"/>
              </a:rPr>
              <a:t>frontend/src/app/*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466344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BA8C7"/>
                </a:solidFill>
                <a:latin typeface="Segoe UI"/>
              </a:rPr>
              <a:t>Next.js dashboard — 6 pages, all reading live from the backend, zero mock data.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PHASE 1 —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One canonical schema, any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BA8C7"/>
                </a:solidFill>
                <a:latin typeface="Segoe UI"/>
              </a:rPr>
              <a:t>A heuristic column mapper normalizes CICIDS2018-, ISCX-VPN-, and CAIDA-style headers — however they're spelled — onto one 18-column schema every downstream module shares.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514600"/>
          <a:ext cx="10789920" cy="2103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3200400"/>
                <a:gridCol w="54864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B799A"/>
                          </a:solidFill>
                          <a:latin typeface="Consolas"/>
                        </a:rPr>
                        <a:t>DATASET</a:t>
                      </a:r>
                    </a:p>
                  </a:txBody>
                  <a:tcPr marL="109728" marR="109728" marT="36576" marB="36576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799A"/>
                          </a:solidFill>
                          <a:latin typeface="Consolas"/>
                        </a:rPr>
                        <a:t>TYPE</a:t>
                      </a:r>
                    </a:p>
                  </a:txBody>
                  <a:tcPr marL="109728" marR="109728" marT="36576" marB="36576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799A"/>
                          </a:solidFill>
                          <a:latin typeface="Consolas"/>
                        </a:rPr>
                        <a:t>ROLE</a:t>
                      </a:r>
                    </a:p>
                  </a:txBody>
                  <a:tcPr marL="109728" marR="109728" marT="36576" marB="36576" anchor="ctr">
                    <a:solidFill>
                      <a:srgbClr val="121B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E9EEFA"/>
                          </a:solidFill>
                          <a:latin typeface="Segoe UI"/>
                        </a:rPr>
                        <a:t>cicids2018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BA8C7"/>
                          </a:solidFill>
                          <a:latin typeface="Consolas"/>
                        </a:rPr>
                        <a:t>Labeled attack flows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BA8C7"/>
                          </a:solidFill>
                          <a:latin typeface="Consolas"/>
                        </a:rPr>
                        <a:t>Primary training / evaluation set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E9EEFA"/>
                          </a:solidFill>
                          <a:latin typeface="Segoe UI"/>
                        </a:rPr>
                        <a:t>iscx_vpn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BA8C7"/>
                          </a:solidFill>
                          <a:latin typeface="Consolas"/>
                        </a:rPr>
                        <a:t>VPN vs non-VPN traffic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BA8C7"/>
                          </a:solidFill>
                          <a:latin typeface="Consolas"/>
                        </a:rPr>
                        <a:t>Repurposed as tunneled-traffic detection — generalization test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E9EEFA"/>
                          </a:solidFill>
                          <a:latin typeface="Segoe UI"/>
                        </a:rPr>
                        <a:t>caida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BA8C7"/>
                          </a:solidFill>
                          <a:latin typeface="Consolas"/>
                        </a:rPr>
                        <a:t>Unlabeled real backbone pcap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BA8C7"/>
                          </a:solidFill>
                          <a:latin typeface="Consolas"/>
                        </a:rPr>
                        <a:t>Unsupervised clustering + threshold sanity-check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E9EEFA"/>
                          </a:solidFill>
                          <a:latin typeface="Segoe UI"/>
                        </a:rPr>
                        <a:t>sample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BA8C7"/>
                          </a:solidFill>
                          <a:latin typeface="Consolas"/>
                        </a:rPr>
                        <a:t>Synthetic, canonical schema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9BA8C7"/>
                          </a:solidFill>
                          <a:latin typeface="Consolas"/>
                        </a:rPr>
                        <a:t>Fast demo / offline CI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4846320"/>
            <a:ext cx="10789920" cy="1508760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01091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BBF24"/>
                </a:solidFill>
                <a:latin typeface="Consolas"/>
              </a:rPr>
              <a:t>HONEST ENGINEERING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3035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BA8C7"/>
                </a:solidFill>
                <a:latin typeface="Segoe UI"/>
              </a:rPr>
              <a:t>CICIDS2018, CAIDA, and ISCX-VPN2016 are gated behind signed data-sharing agreements and multi-GB downloads. app/data/synthetic.py generates flow records with each benchmark's real column names and per-class statistics (plus ~3.5% label noise, so metrics land believably around 97% instead of a suspicious 100%). Drop real CSVs into backend/data_raw/&lt;dataset&gt;/ and retrain — zero code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PHASE 2 —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23 engineered features, one fixed vector.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BA8C7"/>
                </a:solidFill>
                <a:latin typeface="Segoe UI"/>
              </a:rPr>
              <a:t>features.py is the single contract shared by training and inference — the same function scores a form submission or a training 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5166360" cy="141732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9631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DD4BF"/>
                </a:solidFill>
                <a:latin typeface="Consolas"/>
              </a:rPr>
              <a:t>FLOW AGGREGATES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39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BA8C7"/>
                </a:solidFill>
                <a:latin typeface="Consolas"/>
              </a:rPr>
              <a:t>duration_ms · total_packets · total_bytes · bytes/sec · packets/sec · fwd/bwd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5166360" cy="141732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49631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DD4BF"/>
                </a:solidFill>
                <a:latin typeface="Consolas"/>
              </a:rPr>
              <a:t>PACKET 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834639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BA8C7"/>
                </a:solidFill>
                <a:latin typeface="Consolas"/>
              </a:rPr>
              <a:t>packet_size_mean · packet_size_std · payload_entropy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77639"/>
            <a:ext cx="5166360" cy="141732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42231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DD4BF"/>
                </a:solidFill>
                <a:latin typeface="Consolas"/>
              </a:rPr>
              <a:t>TCP FLAGS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59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BA8C7"/>
                </a:solidFill>
                <a:latin typeface="Consolas"/>
              </a:rPr>
              <a:t>syn/fin/rst count · syn_flag_ratio · unique_dst_ports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77639"/>
            <a:ext cx="5166360" cy="141732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142231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DD4BF"/>
                </a:solidFill>
                <a:latin typeface="Consolas"/>
              </a:rPr>
              <a:t>CATEGORICAL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59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BA8C7"/>
                </a:solidFill>
                <a:latin typeface="Consolas"/>
              </a:rPr>
              <a:t>protocol one-hot (3) · port bin one-hot (3) · hour sin/cos · is_vpn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2356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RAW 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704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2D3EE"/>
                </a:solidFill>
                <a:latin typeface="Segoe UI Semibold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562356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ENGINEERED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8704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DD4BF"/>
                </a:solidFill>
                <a:latin typeface="Segoe UI Semibold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623560"/>
            <a:ext cx="2560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8704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9EEFA"/>
                </a:solidFill>
                <a:latin typeface="Segoe UI Semibold"/>
              </a:rPr>
              <a:t>StandardScaler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FEATURE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DD4BF"/>
                </a:solidFill>
                <a:latin typeface="Consolas"/>
              </a:rPr>
              <a:t>PHASE 3–4 — UNSUPERVISED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Clustering before a single label is used.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BA8C7"/>
                </a:solidFill>
                <a:latin typeface="Segoe UI"/>
              </a:rPr>
              <a:t>K-Means finds natural groupings; DBSCAN flags outliers — the only analysis available on unlabeled CAIDA backbone traffic.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212080" cy="324612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BA8C7"/>
                </a:solidFill>
                <a:latin typeface="Consolas"/>
              </a:rPr>
              <a:t>app/clustering.py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47091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25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9BA8C7"/>
                </a:solidFill>
                <a:latin typeface="Segoe UI"/>
              </a:rPr>
              <a:t>StandardScaler → KMeans(n=4) → PCA(2D) for the dashboard scatter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25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9BA8C7"/>
                </a:solidFill>
                <a:latin typeface="Segoe UI"/>
              </a:rPr>
              <a:t>DBSCAN eps auto-tuned via the k-distance heuristic — 75th percentile of each point's distance to its min_samples-th neighbor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25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250" b="0" i="0">
                <a:solidFill>
                  <a:srgbClr val="9BA8C7"/>
                </a:solidFill>
                <a:latin typeface="Segoe UI"/>
              </a:rPr>
              <a:t>No fixed magic constants: the same code adapts to CICIDS2018's and CAIDA's very different feature scales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423160"/>
            <a:ext cx="5394960" cy="3246120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60604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87171"/>
                </a:solidFill>
                <a:latin typeface="Consolas"/>
              </a:rPr>
              <a:t>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8529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E9EEFA"/>
                </a:solidFill>
                <a:latin typeface="Segoe UI Semibold"/>
              </a:rPr>
              <a:t>A fixed eps=1.6 broke on CAIDA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310128"/>
            <a:ext cx="4892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BA8C7"/>
                </a:solidFill>
                <a:latin typeface="Segoe UI"/>
              </a:rPr>
              <a:t>CAIDA's higher feature variance meant a constant tuned for CICIDS2018 flagged 78% of points as DBSCAN outliers. Replacing the constant with an auto-tuned, per-dataset eps corrected it to a sane 8.4% — matching the ~6% synthetic anomaly rate actually injected.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CLUSTERING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PHASE 5 —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A fast filter, a production ensemble, a baseline.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3456432" cy="411480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99A"/>
                </a:solidFill>
                <a:latin typeface="Consolas"/>
              </a:rPr>
              <a:t>models/fast_path.py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50592"/>
            <a:ext cx="22677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E9EEFA"/>
                </a:solidFill>
                <a:latin typeface="Segoe UI Semibold"/>
              </a:rPr>
              <a:t>Fast-Path 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2999232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15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150" b="0" i="0">
                <a:solidFill>
                  <a:srgbClr val="9BA8C7"/>
                </a:solidFill>
                <a:latin typeface="Segoe UI"/>
              </a:rPr>
              <a:t>Naive Bayes + KNN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15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150" b="0" i="0">
                <a:solidFill>
                  <a:srgbClr val="9BA8C7"/>
                </a:solidFill>
                <a:latin typeface="Segoe UI"/>
              </a:rPr>
              <a:t>SMOTE-oversampled for class imbalance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15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150" b="0" i="0">
                <a:solidFill>
                  <a:srgbClr val="9BA8C7"/>
                </a:solidFill>
                <a:latin typeface="Segoe UI"/>
              </a:rPr>
              <a:t>OR-rule — either model firing flags the flow, biased toward recall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65960"/>
            <a:ext cx="3456432" cy="4114800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99A"/>
                </a:solidFill>
                <a:latin typeface="Consolas"/>
              </a:rPr>
              <a:t>models/radiant_boost.py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50592"/>
            <a:ext cx="22677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E9EEFA"/>
                </a:solidFill>
                <a:latin typeface="Segoe UI Semibold"/>
              </a:rPr>
              <a:t>RadiantBoost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5392" y="24688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E1526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850" b="1" i="0">
                <a:solidFill>
                  <a:srgbClr val="22D3EE"/>
                </a:solidFill>
                <a:latin typeface="Consolas"/>
              </a:rPr>
              <a:t>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71800"/>
            <a:ext cx="2999232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15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150" b="0" i="0">
                <a:solidFill>
                  <a:srgbClr val="9BA8C7"/>
                </a:solidFill>
                <a:latin typeface="Segoe UI"/>
              </a:rPr>
              <a:t>GradientBoosting + XGBoost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15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150" b="0" i="0">
                <a:solidFill>
                  <a:srgbClr val="9BA8C7"/>
                </a:solidFill>
                <a:latin typeface="Segoe UI"/>
              </a:rPr>
              <a:t>RandomizedSearchCV (3-fold, ROC-AUC)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15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150" b="0" i="0">
                <a:solidFill>
                  <a:srgbClr val="9BA8C7"/>
                </a:solidFill>
                <a:latin typeface="Segoe UI"/>
              </a:rPr>
              <a:t>Isotonic-calibrated, threshold auto-selected for 95% TPR / ≤2% FPR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15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150" b="0" i="0">
                <a:solidFill>
                  <a:srgbClr val="9BA8C7"/>
                </a:solidFill>
                <a:latin typeface="Segoe UI"/>
              </a:rPr>
              <a:t>Final score = mean of both calibrated probabilities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65960"/>
            <a:ext cx="3456432" cy="411480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99A"/>
                </a:solidFill>
                <a:latin typeface="Consolas"/>
              </a:rPr>
              <a:t>models/baseline.py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50592"/>
            <a:ext cx="22677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E9EEFA"/>
                </a:solidFill>
                <a:latin typeface="Segoe UI Semibold"/>
              </a:rPr>
              <a:t>Random Forest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71800"/>
            <a:ext cx="2999232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15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150" b="0" i="0">
                <a:solidFill>
                  <a:srgbClr val="9BA8C7"/>
                </a:solidFill>
                <a:latin typeface="Segoe UI"/>
              </a:rPr>
              <a:t>Bagged trees, tuned + calibrated identically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15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150" b="0" i="0">
                <a:solidFill>
                  <a:srgbClr val="9BA8C7"/>
                </a:solidFill>
                <a:latin typeface="Segoe UI"/>
              </a:rPr>
              <a:t>Comparison point, not served to the API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1150" b="0" i="0">
                <a:solidFill>
                  <a:srgbClr val="6B799A"/>
                </a:solidFill>
                <a:latin typeface="Segoe UI"/>
              </a:rPr>
              <a:t>—  </a:t>
            </a:r>
            <a:r>
              <a:rPr sz="1150" b="0" i="0">
                <a:solidFill>
                  <a:srgbClr val="9BA8C7"/>
                </a:solidFill>
                <a:latin typeface="Segoe UI"/>
              </a:rPr>
              <a:t>Isolates sequential vs. independent tree-building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DESIGN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Why Gradient Boosting — measured, not assumed.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BA8C7"/>
                </a:solidFill>
                <a:latin typeface="Segoe UI"/>
              </a:rPr>
              <a:t>Both models get identical tuning budget and calibration — the numbers below are this run's actual held-out test results.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423160"/>
          <a:ext cx="10789920" cy="1965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1645920"/>
                <a:gridCol w="1645920"/>
                <a:gridCol w="1463040"/>
                <a:gridCol w="146304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B799A"/>
                          </a:solidFill>
                          <a:latin typeface="Consolas"/>
                        </a:rPr>
                        <a:t>MODEL</a:t>
                      </a:r>
                    </a:p>
                  </a:txBody>
                  <a:tcPr marL="109728" marR="109728" marT="36576" marB="36576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799A"/>
                          </a:solidFill>
                          <a:latin typeface="Consolas"/>
                        </a:rPr>
                        <a:t>ACCURACY</a:t>
                      </a:r>
                    </a:p>
                  </a:txBody>
                  <a:tcPr marL="109728" marR="109728" marT="36576" marB="36576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799A"/>
                          </a:solidFill>
                          <a:latin typeface="Consolas"/>
                        </a:rPr>
                        <a:t>PRECISION</a:t>
                      </a:r>
                    </a:p>
                  </a:txBody>
                  <a:tcPr marL="109728" marR="109728" marT="36576" marB="36576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799A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109728" marR="109728" marT="36576" marB="36576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799A"/>
                          </a:solidFill>
                          <a:latin typeface="Consolas"/>
                        </a:rPr>
                        <a:t>ROC-AUC</a:t>
                      </a:r>
                    </a:p>
                  </a:txBody>
                  <a:tcPr marL="109728" marR="109728" marT="36576" marB="36576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799A"/>
                          </a:solidFill>
                          <a:latin typeface="Consolas"/>
                        </a:rPr>
                        <a:t>CV ROC-AUC</a:t>
                      </a:r>
                    </a:p>
                  </a:txBody>
                  <a:tcPr marL="109728" marR="109728" marT="36576" marB="36576" anchor="ctr">
                    <a:solidFill>
                      <a:srgbClr val="121B33"/>
                    </a:solidFill>
                  </a:tcPr>
                </a:tc>
              </a:tr>
              <a:tr h="52730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2D3EE"/>
                          </a:solidFill>
                          <a:latin typeface="Segoe UI"/>
                        </a:rPr>
                        <a:t>RadiantBoost (GB+XGB)</a:t>
                      </a:r>
                    </a:p>
                  </a:txBody>
                  <a:tcPr marL="109728" marR="109728" marT="27432" marB="27432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97.58%</a:t>
                      </a:r>
                    </a:p>
                  </a:txBody>
                  <a:tcPr marL="109728" marR="109728" marT="27432" marB="27432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98.94%</a:t>
                      </a:r>
                    </a:p>
                  </a:txBody>
                  <a:tcPr marL="109728" marR="109728" marT="27432" marB="27432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93.72%</a:t>
                      </a:r>
                    </a:p>
                  </a:txBody>
                  <a:tcPr marL="109728" marR="109728" marT="27432" marB="27432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0.9706</a:t>
                      </a:r>
                    </a:p>
                  </a:txBody>
                  <a:tcPr marL="109728" marR="109728" marT="27432" marB="27432" anchor="ctr">
                    <a:solidFill>
                      <a:srgbClr val="12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0.9613</a:t>
                      </a:r>
                    </a:p>
                  </a:txBody>
                  <a:tcPr marL="109728" marR="109728" marT="27432" marB="27432" anchor="ctr">
                    <a:solidFill>
                      <a:srgbClr val="121B33"/>
                    </a:solidFill>
                  </a:tcPr>
                </a:tc>
              </a:tr>
              <a:tr h="52730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E9EEFA"/>
                          </a:solidFill>
                          <a:latin typeface="Segoe UI"/>
                        </a:rPr>
                        <a:t>Random Forest baseline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97.58%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98.94%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93.72%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0.9702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0.9578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</a:tr>
              <a:tr h="52730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E9EEFA"/>
                          </a:solidFill>
                          <a:latin typeface="Segoe UI"/>
                        </a:rPr>
                        <a:t>Fast-path (NB+KNN, SMOTE)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92.67%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88.75%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89.20%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9BA8C7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0E152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70916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Test-set accuracy ties — the real signal is cv_roc_auc: RadiantBoost's sequential, error-correcting trees generalize more consistently across folds (0.961 vs 0.958). The trade-off, honestly stated: GB needs careful learning-rate/depth tuning to avoid overfitting that RF is largely immune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DESIGN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DD4BF"/>
                </a:solidFill>
                <a:latin typeface="Consolas"/>
              </a:rPr>
              <a:t>PHASE 5B — EXPLAINABILITY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A probability alone isn't actionable.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BA8C7"/>
                </a:solidFill>
                <a:latin typeface="Segoe UI"/>
              </a:rPr>
              <a:t>shap.TreeExplainer on RadiantBoost's unwrapped Gradient Boosting estimator — real global importance from this run's held-out sample: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9BA8C7"/>
                </a:solidFill>
                <a:latin typeface="Consolas"/>
              </a:rPr>
              <a:t>packet_size_mean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2496312"/>
            <a:ext cx="5669280" cy="219456"/>
          </a:xfrm>
          <a:prstGeom prst="rect">
            <a:avLst/>
          </a:prstGeom>
          <a:solidFill>
            <a:srgbClr val="121B33"/>
          </a:solidFill>
          <a:ln w="9525">
            <a:solidFill>
              <a:srgbClr val="18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496312"/>
            <a:ext cx="5669280" cy="21945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24688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99A"/>
                </a:solidFill>
                <a:latin typeface="Consolas"/>
              </a:rPr>
              <a:t>2.752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9BA8C7"/>
                </a:solidFill>
                <a:latin typeface="Consolas"/>
              </a:rPr>
              <a:t>payload_entropy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2880360"/>
            <a:ext cx="5669280" cy="219456"/>
          </a:xfrm>
          <a:prstGeom prst="rect">
            <a:avLst/>
          </a:prstGeom>
          <a:solidFill>
            <a:srgbClr val="121B33"/>
          </a:solidFill>
          <a:ln w="9525">
            <a:solidFill>
              <a:srgbClr val="18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2880360"/>
            <a:ext cx="1054486" cy="21945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8529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99A"/>
                </a:solidFill>
                <a:latin typeface="Consolas"/>
              </a:rPr>
              <a:t>0.511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3697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9BA8C7"/>
                </a:solidFill>
                <a:latin typeface="Consolas"/>
              </a:rPr>
              <a:t>syn_flag_ratio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3264408"/>
            <a:ext cx="5669280" cy="219456"/>
          </a:xfrm>
          <a:prstGeom prst="rect">
            <a:avLst/>
          </a:prstGeom>
          <a:solidFill>
            <a:srgbClr val="121B33"/>
          </a:solidFill>
          <a:ln w="9525">
            <a:solidFill>
              <a:srgbClr val="18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3264408"/>
            <a:ext cx="422361" cy="21945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23697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99A"/>
                </a:solidFill>
                <a:latin typeface="Consolas"/>
              </a:rPr>
              <a:t>0.205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2102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9BA8C7"/>
                </a:solidFill>
                <a:latin typeface="Consolas"/>
              </a:rPr>
              <a:t>total_bytes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3648456"/>
            <a:ext cx="5669280" cy="219456"/>
          </a:xfrm>
          <a:prstGeom prst="rect">
            <a:avLst/>
          </a:prstGeom>
          <a:solidFill>
            <a:srgbClr val="121B33"/>
          </a:solidFill>
          <a:ln w="9525">
            <a:solidFill>
              <a:srgbClr val="18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648456"/>
            <a:ext cx="422361" cy="21945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62102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99A"/>
                </a:solidFill>
                <a:latin typeface="Consolas"/>
              </a:rPr>
              <a:t>0.205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050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9BA8C7"/>
                </a:solidFill>
                <a:latin typeface="Consolas"/>
              </a:rPr>
              <a:t>packet_size_std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4032504"/>
            <a:ext cx="5669280" cy="219456"/>
          </a:xfrm>
          <a:prstGeom prst="rect">
            <a:avLst/>
          </a:prstGeom>
          <a:solidFill>
            <a:srgbClr val="121B33"/>
          </a:solidFill>
          <a:ln w="9525">
            <a:solidFill>
              <a:srgbClr val="18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0" y="4032504"/>
            <a:ext cx="315211" cy="21945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400507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99A"/>
                </a:solidFill>
                <a:latin typeface="Consolas"/>
              </a:rPr>
              <a:t>0.153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891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9BA8C7"/>
                </a:solidFill>
                <a:latin typeface="Consolas"/>
              </a:rPr>
              <a:t>packets_per_sec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4416552"/>
            <a:ext cx="5669280" cy="219456"/>
          </a:xfrm>
          <a:prstGeom prst="rect">
            <a:avLst/>
          </a:prstGeom>
          <a:solidFill>
            <a:srgbClr val="121B33"/>
          </a:solidFill>
          <a:ln w="9525">
            <a:solidFill>
              <a:srgbClr val="182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0" y="4416552"/>
            <a:ext cx="263621" cy="21945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3891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99A"/>
                </a:solidFill>
                <a:latin typeface="Consolas"/>
              </a:rPr>
              <a:t>0.128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892040"/>
            <a:ext cx="10789920" cy="1463040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056632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99A"/>
                </a:solidFill>
                <a:latin typeface="Consolas"/>
              </a:rPr>
              <a:t>TECHNICAL DETAIL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330952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9BA8C7"/>
                </a:solidFill>
                <a:latin typeface="Segoe UI"/>
              </a:rPr>
              <a:t>Saved models are wrapped in CalibratedClassifierCV for probability calibration, but TreeExplainer needs raw tree structure — _unwrap_calibrated() pulls the first calibration fold's fitted estimator back out automatically.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EXPLAINABILITY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DD4BF"/>
                </a:solidFill>
                <a:latin typeface="Consolas"/>
              </a:rPr>
              <a:t>PHASE 5B — A NON-OBVIOUS DESIGN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Attack-family labeling, decoupled from SHAP rank.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BA8C7"/>
                </a:solidFill>
                <a:latin typeface="Segoe UI"/>
              </a:rPr>
              <a:t>packet_size_mean's SHAP magnitude (2.75) so dominates the global ranking that a top-3-by-SHAP rule almost never surfaced a clear port-scan signal. The fix: family labeling reads raw engineered values directly, independent of relative SHAP rank.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97480"/>
            <a:ext cx="8778240" cy="265176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907792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BA8C7"/>
                </a:solidFill>
                <a:latin typeface="Consolas"/>
              </a:rPr>
              <a:t>unique_dst_ports ≥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90779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2D3EE"/>
                </a:solidFill>
                <a:latin typeface="Segoe UI"/>
              </a:rPr>
              <a:t>→ Port Scan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3328416"/>
            <a:ext cx="8229600" cy="0"/>
          </a:xfrm>
          <a:prstGeom prst="line">
            <a:avLst/>
          </a:prstGeom>
          <a:ln w="9525">
            <a:solidFill>
              <a:srgbClr val="182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0120" y="33832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BA8C7"/>
                </a:solidFill>
                <a:latin typeface="Consolas"/>
              </a:rPr>
              <a:t>syn_flag_ratio &gt; 0.5  or  packets_per_sec &gt;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33832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BBF24"/>
                </a:solidFill>
                <a:latin typeface="Segoe UI"/>
              </a:rPr>
              <a:t>→ DoS / Flood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" y="3803904"/>
            <a:ext cx="8229600" cy="0"/>
          </a:xfrm>
          <a:prstGeom prst="line">
            <a:avLst/>
          </a:prstGeom>
          <a:ln w="9525">
            <a:solidFill>
              <a:srgbClr val="182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0120" y="385876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BA8C7"/>
                </a:solidFill>
                <a:latin typeface="Consolas"/>
              </a:rPr>
              <a:t>(rst_count &gt; 3  or  syn_count &gt; 5)  and  not a dynamic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8587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87171"/>
                </a:solidFill>
                <a:latin typeface="Segoe UI"/>
              </a:rPr>
              <a:t>→ Brute Force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4279392"/>
            <a:ext cx="8229600" cy="0"/>
          </a:xfrm>
          <a:prstGeom prst="line">
            <a:avLst/>
          </a:prstGeom>
          <a:ln w="9525">
            <a:solidFill>
              <a:srgbClr val="182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433425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BA8C7"/>
                </a:solidFill>
                <a:latin typeface="Consolas"/>
              </a:rPr>
              <a:t>payload_entropy &gt; 7.2  and  dynamic 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433425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A78BFA"/>
                </a:solidFill>
                <a:latin typeface="Segoe UI"/>
              </a:rPr>
              <a:t>→ C2 Beacon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0120" y="4754880"/>
            <a:ext cx="8229600" cy="0"/>
          </a:xfrm>
          <a:prstGeom prst="line">
            <a:avLst/>
          </a:prstGeom>
          <a:ln w="9525">
            <a:solidFill>
              <a:srgbClr val="182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0120" y="4809744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BA8C7"/>
                </a:solidFill>
                <a:latin typeface="Consolas"/>
              </a:rPr>
              <a:t>payload_entropy &gt; 7.0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80974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DD4BF"/>
                </a:solidFill>
                <a:latin typeface="Segoe UI"/>
              </a:rPr>
              <a:t>→ Encrypted / Tunneled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321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9BA8C7"/>
                </a:solidFill>
                <a:latin typeface="Segoe UI"/>
              </a:rPr>
              <a:t>Verified against all four synthetic attack shapes during testing — each now classifies correctly, independent of which feature SHAP ranks highest for that 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EXPLAINABILITY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A78BFA"/>
                </a:solidFill>
                <a:latin typeface="Consolas"/>
              </a:rPr>
              <a:t>PHASE 5C — LLM INTEGRATION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From signed numbers to one plain sentence.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5120640" cy="246888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6B799A"/>
                </a:solidFill>
                <a:latin typeface="Consolas"/>
              </a:rPr>
              <a:t>BEFORE — raw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 i="0">
                <a:solidFill>
                  <a:srgbClr val="9BA8C7"/>
                </a:solidFill>
                <a:latin typeface="Consolas"/>
              </a:rPr>
              <a:t>unique_dst_ports   +1.21
packet_size_mean   −0.94
syn_flag_ratio      +0.67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96596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148840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78BFA"/>
                </a:solidFill>
                <a:latin typeface="Consolas"/>
              </a:rPr>
              <a:t>AFTER — actual output, this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514600"/>
            <a:ext cx="48920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E9EEFA"/>
                </a:solidFill>
                <a:latin typeface="Segoe UI"/>
              </a:rPr>
              <a:t>“Likely port scan behavior — driven primarily by packet_size_mean (60.00), alongside payload_entropy (2.50), syn_flag_ratio (0.67). Model confidence 96%.”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40233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E1526"/>
          </a:solidFill>
          <a:ln w="9525">
            <a:solidFill>
              <a:srgbClr val="9BA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00" b="0" i="0">
                <a:solidFill>
                  <a:srgbClr val="9BA8C7"/>
                </a:solidFill>
                <a:latin typeface="Consolas"/>
              </a:rPr>
              <a:t>offline template · this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00600"/>
            <a:ext cx="4544568" cy="365760"/>
          </a:xfrm>
          <a:prstGeom prst="roundRect">
            <a:avLst>
              <a:gd name="adj" fmla="val 50000"/>
            </a:avLst>
          </a:prstGeom>
          <a:solidFill>
            <a:srgbClr val="0E1526"/>
          </a:solidFill>
          <a:ln w="9525">
            <a:solidFill>
              <a:srgbClr val="9BA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1100" b="0" i="0">
                <a:solidFill>
                  <a:srgbClr val="9BA8C7"/>
                </a:solidFill>
                <a:latin typeface="Consolas"/>
              </a:rPr>
              <a:t>Anthropic Claude API when ANTHROPIC_API_KEY is 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303520"/>
            <a:ext cx="6160312" cy="365760"/>
          </a:xfrm>
          <a:prstGeom prst="roundRect">
            <a:avLst>
              <a:gd name="adj" fmla="val 50000"/>
            </a:avLst>
          </a:prstGeom>
          <a:solidFill>
            <a:srgbClr val="0E1526"/>
          </a:solidFill>
          <a:ln w="9525">
            <a:solidFill>
              <a:srgbClr val="9BA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1100" b="0" i="0">
                <a:solidFill>
                  <a:srgbClr val="9BA8C7"/>
                </a:solidFill>
                <a:latin typeface="Consolas"/>
              </a:rPr>
              <a:t>Deterministic template fallback otherwise — zero cost, zero flakiness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06440"/>
            <a:ext cx="2503627" cy="365760"/>
          </a:xfrm>
          <a:prstGeom prst="roundRect">
            <a:avLst>
              <a:gd name="adj" fmla="val 50000"/>
            </a:avLst>
          </a:prstGeom>
          <a:solidFill>
            <a:srgbClr val="0E1526"/>
          </a:solidFill>
          <a:ln w="9525">
            <a:solidFill>
              <a:srgbClr val="9BA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1100" b="0" i="0">
                <a:solidFill>
                  <a:srgbClr val="9BA8C7"/>
                </a:solidFill>
                <a:latin typeface="Consolas"/>
              </a:rPr>
              <a:t>Call cap: max_llm_calls=20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LLM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How a packet becomes a verdict.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121B3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2D3EE"/>
                </a:solidFill>
                <a:latin typeface="Segoe UI Semi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029968"/>
            <a:ext cx="5394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9EEFA"/>
                </a:solidFill>
                <a:latin typeface="Segoe UI"/>
              </a:rPr>
              <a:t>Raw traffic (CSV / pcap / live capture)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9264" y="2395728"/>
            <a:ext cx="0" cy="182880"/>
          </a:xfrm>
          <a:prstGeom prst="line">
            <a:avLst/>
          </a:prstGeom>
          <a:ln w="15875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77240" y="2578608"/>
            <a:ext cx="384048" cy="384048"/>
          </a:xfrm>
          <a:prstGeom prst="ellipse">
            <a:avLst/>
          </a:prstGeom>
          <a:solidFill>
            <a:srgbClr val="121B3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2D3EE"/>
                </a:solidFill>
                <a:latin typeface="Segoe UI Semibol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96896"/>
            <a:ext cx="5394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9EEFA"/>
                </a:solidFill>
                <a:latin typeface="Segoe UI"/>
              </a:rPr>
              <a:t>Normalize into common schema (heuristic column mapper)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9264" y="2962656"/>
            <a:ext cx="0" cy="182880"/>
          </a:xfrm>
          <a:prstGeom prst="line">
            <a:avLst/>
          </a:prstGeom>
          <a:ln w="15875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77240" y="3145536"/>
            <a:ext cx="384048" cy="384048"/>
          </a:xfrm>
          <a:prstGeom prst="ellipse">
            <a:avLst/>
          </a:prstGeom>
          <a:solidFill>
            <a:srgbClr val="121B3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2D3EE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63824"/>
            <a:ext cx="5394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9EEFA"/>
                </a:solidFill>
                <a:latin typeface="Segoe UI"/>
              </a:rPr>
              <a:t>Engineer 23 features (ports, sizes, flags, flow rates, time)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9264" y="3529584"/>
            <a:ext cx="0" cy="182880"/>
          </a:xfrm>
          <a:prstGeom prst="line">
            <a:avLst/>
          </a:prstGeom>
          <a:ln w="15875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77240" y="3712464"/>
            <a:ext cx="384048" cy="384048"/>
          </a:xfrm>
          <a:prstGeom prst="ellipse">
            <a:avLst/>
          </a:prstGeom>
          <a:solidFill>
            <a:srgbClr val="121B3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2D3EE"/>
                </a:solidFill>
                <a:latin typeface="Segoe UI Semibol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730752"/>
            <a:ext cx="5394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9EEFA"/>
                </a:solidFill>
                <a:latin typeface="Segoe UI"/>
              </a:rPr>
              <a:t>Cluster for natural groupings &amp; outliers (unsupervised, KMeans + DBSCAN)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9264" y="4096512"/>
            <a:ext cx="0" cy="182880"/>
          </a:xfrm>
          <a:prstGeom prst="line">
            <a:avLst/>
          </a:prstGeom>
          <a:ln w="15875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77240" y="4279392"/>
            <a:ext cx="384048" cy="384048"/>
          </a:xfrm>
          <a:prstGeom prst="ellipse">
            <a:avLst/>
          </a:prstGeom>
          <a:solidFill>
            <a:srgbClr val="121B3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2D3EE"/>
                </a:solidFill>
                <a:latin typeface="Segoe UI Semibol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97680"/>
            <a:ext cx="5394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9EEFA"/>
                </a:solidFill>
                <a:latin typeface="Segoe UI"/>
              </a:rPr>
              <a:t>Score with calibrated GB + XGB ensemble → probability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9264" y="4663440"/>
            <a:ext cx="0" cy="182880"/>
          </a:xfrm>
          <a:prstGeom prst="line">
            <a:avLst/>
          </a:prstGeom>
          <a:ln w="15875">
            <a:solidFill>
              <a:srgbClr val="223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77240" y="4846320"/>
            <a:ext cx="384048" cy="384048"/>
          </a:xfrm>
          <a:prstGeom prst="ellipse">
            <a:avLst/>
          </a:prstGeom>
          <a:solidFill>
            <a:srgbClr val="121B33"/>
          </a:solidFill>
          <a:ln w="15875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2D3EE"/>
                </a:solidFill>
                <a:latin typeface="Segoe UI Semibold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864608"/>
            <a:ext cx="5394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E9EEFA"/>
                </a:solidFill>
                <a:latin typeface="Segoe UI"/>
              </a:rPr>
              <a:t>Threshold check (0.891) — flagged as malicious?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011680"/>
            <a:ext cx="4434840" cy="566928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214884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87171"/>
                </a:solidFill>
                <a:latin typeface="Consolas"/>
              </a:rPr>
              <a:t>IF FLAGGED 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2788920"/>
            <a:ext cx="4434840" cy="658368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2880360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BA8C7"/>
                </a:solidFill>
                <a:latin typeface="Segoe UI"/>
              </a:rPr>
              <a:t>Compute SHAP top-3 features for this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584448"/>
            <a:ext cx="4434840" cy="658368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675887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BA8C7"/>
                </a:solidFill>
                <a:latin typeface="Segoe UI"/>
              </a:rPr>
              <a:t>Send to Claude API (or offline template) → 1-sentence analyst narrative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4379976"/>
            <a:ext cx="4434840" cy="658368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4471416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BA8C7"/>
                </a:solidFill>
                <a:latin typeface="Segoe UI"/>
              </a:rPr>
              <a:t>Write full row to threat_log.csv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5175504"/>
            <a:ext cx="4434840" cy="658368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5266944"/>
            <a:ext cx="4023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BA8C7"/>
                </a:solidFill>
                <a:latin typeface="Segoe UI"/>
              </a:rPr>
              <a:t>Surface in the live Next.js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WALKTHROUGH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THE PRODUCT —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Dashboard: model status, comparison, generalization.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91409" y="1874519"/>
            <a:ext cx="6978700" cy="256032"/>
          </a:xfrm>
          <a:prstGeom prst="roundRect">
            <a:avLst>
              <a:gd name="adj" fmla="val 0"/>
            </a:avLst>
          </a:prstGeom>
          <a:solidFill>
            <a:srgbClr val="121B33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01137" y="1961388"/>
            <a:ext cx="82296" cy="82296"/>
          </a:xfrm>
          <a:prstGeom prst="ellips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47441" y="1961388"/>
            <a:ext cx="82296" cy="82296"/>
          </a:xfrm>
          <a:prstGeom prst="ellips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93745" y="1961388"/>
            <a:ext cx="82296" cy="82296"/>
          </a:xfrm>
          <a:prstGeom prst="ellips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769" y="1901951"/>
            <a:ext cx="63386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99A"/>
                </a:solidFill>
                <a:latin typeface="Consolas"/>
              </a:rPr>
              <a:t>localhost:3000/</a:t>
            </a:r>
          </a:p>
        </p:txBody>
      </p:sp>
      <p:pic>
        <p:nvPicPr>
          <p:cNvPr id="9" name="Picture 8" descr="01-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409" y="2130552"/>
            <a:ext cx="6978700" cy="4361688"/>
          </a:xfrm>
          <a:prstGeom prst="rect">
            <a:avLst/>
          </a:prstGeom>
          <a:ln w="12700">
            <a:solidFill>
              <a:srgbClr val="22304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THE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THE PRODUCT —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Detect: verdict, gauge, SHAP, narrative — one screen.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41839" y="1828800"/>
            <a:ext cx="5077841" cy="256032"/>
          </a:xfrm>
          <a:prstGeom prst="roundRect">
            <a:avLst>
              <a:gd name="adj" fmla="val 0"/>
            </a:avLst>
          </a:prstGeom>
          <a:solidFill>
            <a:srgbClr val="121B33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1567" y="1915668"/>
            <a:ext cx="82296" cy="82296"/>
          </a:xfrm>
          <a:prstGeom prst="ellips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97871" y="1915668"/>
            <a:ext cx="82296" cy="82296"/>
          </a:xfrm>
          <a:prstGeom prst="ellips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944175" y="1915668"/>
            <a:ext cx="82296" cy="82296"/>
          </a:xfrm>
          <a:prstGeom prst="ellips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36199" y="1856231"/>
            <a:ext cx="443776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99A"/>
                </a:solidFill>
                <a:latin typeface="Consolas"/>
              </a:rPr>
              <a:t>localhost:3000/detect</a:t>
            </a:r>
          </a:p>
        </p:txBody>
      </p:sp>
      <p:pic>
        <p:nvPicPr>
          <p:cNvPr id="9" name="Picture 8" descr="03-detect-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839" y="2084832"/>
            <a:ext cx="5077841" cy="4407407"/>
          </a:xfrm>
          <a:prstGeom prst="rect">
            <a:avLst/>
          </a:prstGeom>
          <a:ln w="12700">
            <a:solidFill>
              <a:srgbClr val="22304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THE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THE PRODUCT —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Threat Log &amp; Clusters explorer.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257800" cy="256032"/>
          </a:xfrm>
          <a:prstGeom prst="roundRect">
            <a:avLst>
              <a:gd name="adj" fmla="val 0"/>
            </a:avLst>
          </a:prstGeom>
          <a:solidFill>
            <a:srgbClr val="121B33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8" y="1961388"/>
            <a:ext cx="82296" cy="82296"/>
          </a:xfrm>
          <a:prstGeom prst="ellips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" y="1961388"/>
            <a:ext cx="82296" cy="82296"/>
          </a:xfrm>
          <a:prstGeom prst="ellips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8136" y="1961388"/>
            <a:ext cx="82296" cy="82296"/>
          </a:xfrm>
          <a:prstGeom prst="ellips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01951"/>
            <a:ext cx="4617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99A"/>
                </a:solidFill>
                <a:latin typeface="Consolas"/>
              </a:rPr>
              <a:t>/threat-log</a:t>
            </a:r>
          </a:p>
        </p:txBody>
      </p:sp>
      <p:pic>
        <p:nvPicPr>
          <p:cNvPr id="9" name="Picture 8" descr="04-threat-l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0552"/>
            <a:ext cx="5257800" cy="3286125"/>
          </a:xfrm>
          <a:prstGeom prst="rect">
            <a:avLst/>
          </a:prstGeom>
          <a:ln w="12700">
            <a:solidFill>
              <a:srgbClr val="22304A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6217920" y="1874519"/>
            <a:ext cx="5257800" cy="256032"/>
          </a:xfrm>
          <a:prstGeom prst="roundRect">
            <a:avLst>
              <a:gd name="adj" fmla="val 0"/>
            </a:avLst>
          </a:prstGeom>
          <a:solidFill>
            <a:srgbClr val="121B33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27648" y="1961388"/>
            <a:ext cx="82296" cy="82296"/>
          </a:xfrm>
          <a:prstGeom prst="ellips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3952" y="1961388"/>
            <a:ext cx="82296" cy="82296"/>
          </a:xfrm>
          <a:prstGeom prst="ellips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1961388"/>
            <a:ext cx="82296" cy="82296"/>
          </a:xfrm>
          <a:prstGeom prst="ellipse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901951"/>
            <a:ext cx="4617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799A"/>
                </a:solidFill>
                <a:latin typeface="Consolas"/>
              </a:rPr>
              <a:t>/clusters</a:t>
            </a:r>
          </a:p>
        </p:txBody>
      </p:sp>
      <p:pic>
        <p:nvPicPr>
          <p:cNvPr id="15" name="Picture 14" descr="05-cluste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30552"/>
            <a:ext cx="5257800" cy="3286125"/>
          </a:xfrm>
          <a:prstGeom prst="rect">
            <a:avLst/>
          </a:prstGeom>
          <a:ln w="12700">
            <a:solidFill>
              <a:srgbClr val="22304A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THE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EVALUATION — CROSS-DATASET GENERALIZATION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The finding this write-up is built to surface.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BA8C7"/>
                </a:solidFill>
                <a:latin typeface="Segoe UI"/>
              </a:rPr>
              <a:t>The CICIDS2018-trained model, evaluated cold on ISCX-VPN and unlabeled CAIDA.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212080" cy="320040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2D3EE"/>
                </a:solidFill>
                <a:latin typeface="Consolas"/>
              </a:rPr>
              <a:t>ISCX-VPN2016 · TUNNELED-TRAFFIC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87171"/>
                </a:solidFill>
                <a:latin typeface="Segoe UI Semibold"/>
              </a:rPr>
              <a:t>0.541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393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99A"/>
                </a:solidFill>
                <a:latin typeface="Consolas"/>
              </a:rP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6908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BA8C7"/>
                </a:solidFill>
                <a:latin typeface="Segoe UI"/>
              </a:rPr>
              <a:t>Near-random transfer. Expected distribution shift, not a bug — it demonstrates why single-benchmark evaluation overstates real-world readiness.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423160"/>
            <a:ext cx="5394960" cy="320040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6060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DD4BF"/>
                </a:solidFill>
                <a:latin typeface="Consolas"/>
              </a:rPr>
              <a:t>CAIDA · UNSUPERVISED SANITY-CHECK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97180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E9EEFA"/>
                </a:solidFill>
                <a:latin typeface="Segoe UI Semibold"/>
              </a:rPr>
              <a:t>25.1%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6393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99A"/>
                </a:solidFill>
                <a:latin typeface="Consolas"/>
              </a:rPr>
              <a:t>FLAGGED MALICIOUS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06908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BA8C7"/>
                </a:solidFill>
                <a:latin typeface="Segoe UI"/>
              </a:rPr>
              <a:t>DBSCAN outlier fraction 8.4% (auto-tuned eps) against real backbone traffic with no ground truth at 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87171"/>
                </a:solidFill>
                <a:latin typeface="Consolas"/>
              </a:rPr>
              <a:t>BEHIND THE SCENES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Five bugs found and fixed this build.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BA8C7"/>
                </a:solidFill>
                <a:latin typeface="Segoe UI"/>
              </a:rPr>
              <a:t>Every metric on this deck reflects the corrected behavior — logged here for the record. Backed by an automated suite: 19/19 pytest tests passing.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957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87171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95728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 Semibold"/>
              </a:rPr>
              <a:t>Unrealistic ROC-AUC = 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8833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BA8C7"/>
                </a:solidFill>
                <a:latin typeface="Segoe UI"/>
              </a:rPr>
              <a:t>Clean-room synthetic classes were perfectly separable. Injected ~3.5% label noise → 0.9706, a believable ceiling.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182112"/>
            <a:ext cx="10789920" cy="0"/>
          </a:xfrm>
          <a:prstGeom prst="line">
            <a:avLst/>
          </a:prstGeom>
          <a:ln w="9525">
            <a:solidFill>
              <a:srgbClr val="182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326440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87171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64408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 Semibold"/>
              </a:rPr>
              <a:t>DBSCAN outlier fraction 78% on CAIDA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5701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BA8C7"/>
                </a:solidFill>
                <a:latin typeface="Segoe UI"/>
              </a:rPr>
              <a:t>A fixed eps=1.6 tuned for one dataset broke on another's scale. Auto-tuned via k-distance heuristic → 8.4%.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4050792"/>
            <a:ext cx="10789920" cy="0"/>
          </a:xfrm>
          <a:prstGeom prst="line">
            <a:avLst/>
          </a:prstGeom>
          <a:ln w="9525">
            <a:solidFill>
              <a:srgbClr val="182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4133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87171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33088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 Semibold"/>
              </a:rPr>
              <a:t>Confidence inverted near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2569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BA8C7"/>
                </a:solidFill>
                <a:latin typeface="Segoe UI"/>
              </a:rPr>
              <a:t>A 99.2% malicious probability showed 56% “confidence” — wrong-side denominator above threshold. Direction-aware fix → 95.3%.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919472"/>
            <a:ext cx="10789920" cy="0"/>
          </a:xfrm>
          <a:prstGeom prst="line">
            <a:avLst/>
          </a:prstGeom>
          <a:ln w="9525">
            <a:solidFill>
              <a:srgbClr val="182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500176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87171"/>
                </a:solidFill>
                <a:latin typeface="Consola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01768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 Semibold"/>
              </a:rPr>
              <a:t>Attack family misclassified under high-SHAP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9437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BA8C7"/>
                </a:solidFill>
                <a:latin typeface="Segoe UI"/>
              </a:rPr>
              <a:t>packet_size_mean's dominant SHAP rank masked port-scan/brute-force signals. Decoupled family inference from SHAP rank → correct on all four attack shapes.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788152"/>
            <a:ext cx="10789920" cy="0"/>
          </a:xfrm>
          <a:prstGeom prst="line">
            <a:avLst/>
          </a:prstGeom>
          <a:ln w="9525">
            <a:solidFill>
              <a:srgbClr val="182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58704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87171"/>
                </a:solidFill>
                <a:latin typeface="Consola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870448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 Semibold"/>
              </a:rPr>
              <a:t>Batch CSV endpoint 500'd on real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163056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BA8C7"/>
                </a:solidFill>
                <a:latin typeface="Segoe UI"/>
              </a:rPr>
              <a:t>FlowFeatures.total_bytes was typed int; the loader legitimately produces floats. Schema fix → 19/19 tests passing.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ENGINEERING RIGOR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A78BFA"/>
                </a:solidFill>
                <a:latin typeface="Consolas"/>
              </a:rPr>
              <a:t>NOVELTY &amp;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9EEFA"/>
                </a:solidFill>
                <a:latin typeface="Segoe UI Semibold"/>
              </a:rPr>
              <a:t>What makes this more than a course assignment.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984248"/>
            <a:ext cx="292608" cy="292608"/>
          </a:xfrm>
          <a:prstGeom prst="ellipse">
            <a:avLst/>
          </a:prstGeom>
          <a:solidFill>
            <a:srgbClr val="121B33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A78BFA"/>
                </a:solidFill>
                <a:latin typeface="Segoe UI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" y="1938528"/>
            <a:ext cx="4700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9EEFA"/>
                </a:solidFill>
                <a:latin typeface="Segoe UI"/>
              </a:rPr>
              <a:t>Adaptive column mapper, not per-dataset parsers.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2258568"/>
            <a:ext cx="47000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One heuristic mapper normalizes any CICIDS-/ISCX-/CAIDA-style header set onto one schema — a 5th dataset is a config change, not new code.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063240"/>
            <a:ext cx="292608" cy="292608"/>
          </a:xfrm>
          <a:prstGeom prst="ellipse">
            <a:avLst/>
          </a:prstGeom>
          <a:solidFill>
            <a:srgbClr val="121B33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A78BFA"/>
                </a:solidFill>
                <a:latin typeface="Segoe UI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3017520"/>
            <a:ext cx="4700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9EEFA"/>
                </a:solidFill>
                <a:latin typeface="Segoe UI"/>
              </a:rPr>
              <a:t>Self-tuning DBSCAN, not a magic constant.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3337560"/>
            <a:ext cx="47000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eps is derived per-dataset via the k-distance heuristic, so the same clustering code is statistically valid on datasets with very different feature scales.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142231"/>
            <a:ext cx="292608" cy="292608"/>
          </a:xfrm>
          <a:prstGeom prst="ellipse">
            <a:avLst/>
          </a:prstGeom>
          <a:solidFill>
            <a:srgbClr val="121B33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A78BFA"/>
                </a:solidFill>
                <a:latin typeface="Segoe UI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4096511"/>
            <a:ext cx="4700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9EEFA"/>
                </a:solidFill>
                <a:latin typeface="Segoe UI"/>
              </a:rPr>
              <a:t>Explainability decoupled from one dominant feature.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4416552"/>
            <a:ext cx="47000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Attack-family labeling reads raw engineered values directly — avoiding the SHAP pitfall where one globally dominant feature masks a clearer local signal.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221223"/>
            <a:ext cx="292608" cy="292608"/>
          </a:xfrm>
          <a:prstGeom prst="ellipse">
            <a:avLst/>
          </a:prstGeom>
          <a:solidFill>
            <a:srgbClr val="121B33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A78BFA"/>
                </a:solidFill>
                <a:latin typeface="Segoe U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5175503"/>
            <a:ext cx="4700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9EEFA"/>
                </a:solidFill>
                <a:latin typeface="Segoe UI"/>
              </a:rPr>
              <a:t>Two-track detection mirrors real SOC triage.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5495544"/>
            <a:ext cx="47000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A cheap, recall-biased NB+KNN fast path alongside a calibrated, precision-focused GB+XGB production model — not one monolithic classifier.</a:t>
            </a:r>
          </a:p>
        </p:txBody>
      </p:sp>
      <p:sp>
        <p:nvSpPr>
          <p:cNvPr id="16" name="Oval 15"/>
          <p:cNvSpPr/>
          <p:nvPr/>
        </p:nvSpPr>
        <p:spPr>
          <a:xfrm>
            <a:off x="6309359" y="1984248"/>
            <a:ext cx="292608" cy="292608"/>
          </a:xfrm>
          <a:prstGeom prst="ellipse">
            <a:avLst/>
          </a:prstGeom>
          <a:solidFill>
            <a:srgbClr val="121B33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A78BFA"/>
                </a:solidFill>
                <a:latin typeface="Segoe UI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3" y="1938528"/>
            <a:ext cx="4700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9EEFA"/>
                </a:solidFill>
                <a:latin typeface="Segoe UI"/>
              </a:rPr>
              <a:t>Honest cross-dataset generalization testing.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3" y="2258568"/>
            <a:ext cx="47000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Most student IDS projects report one train/test split on one dataset. This one explicitly measures the transfer gap to ISCX-VPN and CAIDA.</a:t>
            </a:r>
          </a:p>
        </p:txBody>
      </p:sp>
      <p:sp>
        <p:nvSpPr>
          <p:cNvPr id="19" name="Oval 18"/>
          <p:cNvSpPr/>
          <p:nvPr/>
        </p:nvSpPr>
        <p:spPr>
          <a:xfrm>
            <a:off x="6309359" y="3063240"/>
            <a:ext cx="292608" cy="292608"/>
          </a:xfrm>
          <a:prstGeom prst="ellipse">
            <a:avLst/>
          </a:prstGeom>
          <a:solidFill>
            <a:srgbClr val="121B33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A78BFA"/>
                </a:solidFill>
                <a:latin typeface="Segoe UI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3" y="3017520"/>
            <a:ext cx="4700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9EEFA"/>
                </a:solidFill>
                <a:latin typeface="Segoe UI"/>
              </a:rPr>
              <a:t>A deployed system, not a notebook.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3" y="3337560"/>
            <a:ext cx="47000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A real FastAPI backend + Next.js dashboard with live REST endpoints, batch CSV upload, and a CSV-backed threat log — runnable end to end today.</a:t>
            </a:r>
          </a:p>
        </p:txBody>
      </p:sp>
      <p:sp>
        <p:nvSpPr>
          <p:cNvPr id="22" name="Oval 21"/>
          <p:cNvSpPr/>
          <p:nvPr/>
        </p:nvSpPr>
        <p:spPr>
          <a:xfrm>
            <a:off x="6309359" y="4142231"/>
            <a:ext cx="292608" cy="292608"/>
          </a:xfrm>
          <a:prstGeom prst="ellipse">
            <a:avLst/>
          </a:prstGeom>
          <a:solidFill>
            <a:srgbClr val="121B33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A78BFA"/>
                </a:solidFill>
                <a:latin typeface="Segoe UI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3" y="4096511"/>
            <a:ext cx="4700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9EEFA"/>
                </a:solidFill>
                <a:latin typeface="Segoe UI"/>
              </a:rPr>
              <a:t>Statistically credible metrics.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3" y="4416552"/>
            <a:ext cx="47000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Deliberate label-noise injection keeps evaluation numbers in a believable ~97% range instead of a suspicious, overfit-looking 100%.</a:t>
            </a:r>
          </a:p>
        </p:txBody>
      </p:sp>
      <p:sp>
        <p:nvSpPr>
          <p:cNvPr id="25" name="Oval 24"/>
          <p:cNvSpPr/>
          <p:nvPr/>
        </p:nvSpPr>
        <p:spPr>
          <a:xfrm>
            <a:off x="6309359" y="5221223"/>
            <a:ext cx="292608" cy="292608"/>
          </a:xfrm>
          <a:prstGeom prst="ellipse">
            <a:avLst/>
          </a:prstGeom>
          <a:solidFill>
            <a:srgbClr val="121B33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A78BFA"/>
                </a:solidFill>
                <a:latin typeface="Segoe UI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9983" y="5175503"/>
            <a:ext cx="4700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9EEFA"/>
                </a:solidFill>
                <a:latin typeface="Segoe UI"/>
              </a:rPr>
              <a:t>Graceful LLM degradation.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3" y="5495544"/>
            <a:ext cx="470001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The narrative layer works identically with or without an API key — zero-cost, zero-flakiness by design, not an afterthought.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NOVELTY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Future work &amp; extensions.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65760" cy="365760"/>
          </a:xfrm>
          <a:prstGeom prst="roundRect">
            <a:avLst/>
          </a:prstGeom>
          <a:solidFill>
            <a:srgbClr val="121B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DD4BF"/>
                </a:solidFill>
                <a:latin typeface="Segoe UI Semibold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15768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"/>
              </a:rPr>
              <a:t>Real-time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27832"/>
            <a:ext cx="29992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Line-rate detection at packet-capture speed, not just batch replay.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65960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2194560"/>
            <a:ext cx="365760" cy="365760"/>
          </a:xfrm>
          <a:prstGeom prst="roundRect">
            <a:avLst/>
          </a:prstGeom>
          <a:solidFill>
            <a:srgbClr val="121B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DD4BF"/>
                </a:solidFill>
                <a:latin typeface="Segoe UI Semibold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15768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"/>
              </a:rPr>
              <a:t>Active-learning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27832"/>
            <a:ext cx="29992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Feed analyst feedback on LLM narratives back into retraining.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965960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2194560"/>
            <a:ext cx="365760" cy="365760"/>
          </a:xfrm>
          <a:prstGeom prst="roundRect">
            <a:avLst/>
          </a:prstGeom>
          <a:solidFill>
            <a:srgbClr val="121B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DD4BF"/>
                </a:solidFill>
                <a:latin typeface="Segoe UI Semibold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15768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"/>
              </a:rPr>
              <a:t>SOAR / SIEM 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27832"/>
            <a:ext cx="29992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Integration for automated response once a flow is flagged.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87368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315968"/>
            <a:ext cx="365760" cy="365760"/>
          </a:xfrm>
          <a:prstGeom prst="roundRect">
            <a:avLst/>
          </a:prstGeom>
          <a:solidFill>
            <a:srgbClr val="121B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DD4BF"/>
                </a:solidFill>
                <a:latin typeface="Segoe UI Semibold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37176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"/>
              </a:rPr>
              <a:t>Drift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29992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Scheduled model recalibration as live traffic patterns shift.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087368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4315968"/>
            <a:ext cx="365760" cy="365760"/>
          </a:xfrm>
          <a:prstGeom prst="roundRect">
            <a:avLst/>
          </a:prstGeom>
          <a:solidFill>
            <a:srgbClr val="121B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DD4BF"/>
                </a:solidFill>
                <a:latin typeface="Segoe UI Semibold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37176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"/>
              </a:rPr>
              <a:t>Richer LLM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49240"/>
            <a:ext cx="29992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Multi-sentence root-cause narratives instead of one 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4087368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4315968"/>
            <a:ext cx="365760" cy="365760"/>
          </a:xfrm>
          <a:prstGeom prst="roundRect">
            <a:avLst/>
          </a:prstGeom>
          <a:solidFill>
            <a:srgbClr val="121B33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DD4BF"/>
                </a:solidFill>
                <a:latin typeface="Segoe UI Semibold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37176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"/>
              </a:rPr>
              <a:t>Real dataset swap-in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349240"/>
            <a:ext cx="29992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CICIDS2018 / ISCX-VPN2016 / CAIDA once gated access is granted.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FUTURE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2D3EE"/>
                </a:solidFill>
                <a:latin typeface="Consola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59536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9EEFA"/>
                </a:solidFill>
                <a:latin typeface="Segoe UI Semibold"/>
              </a:rPr>
              <a:t>What we built.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121B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4D399"/>
                </a:solidFill>
                <a:latin typeface="Segoe UI Semibold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15768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"/>
              </a:rPr>
              <a:t>Calibrated ML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27832"/>
            <a:ext cx="29992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Not manual (Wireshark) or rule-based (Zeek) — continuous, automated.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65960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0" y="2194560"/>
            <a:ext cx="365760" cy="365760"/>
          </a:xfrm>
          <a:prstGeom prst="ellipse">
            <a:avLst/>
          </a:prstGeom>
          <a:solidFill>
            <a:srgbClr val="121B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4D399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15768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"/>
              </a:rPr>
              <a:t>Per-detection explainability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27832"/>
            <a:ext cx="29992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SHAP feature attribution on every flow — not a black box.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965960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0" y="2194560"/>
            <a:ext cx="365760" cy="365760"/>
          </a:xfrm>
          <a:prstGeom prst="ellipse">
            <a:avLst/>
          </a:prstGeom>
          <a:solidFill>
            <a:srgbClr val="121B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4D399"/>
                </a:solidFill>
                <a:latin typeface="Segoe UI Semibol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15768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"/>
              </a:rPr>
              <a:t>Plain-language narratives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27832"/>
            <a:ext cx="29992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An LLM layer translates numeric explanations for analysts.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87368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315968"/>
            <a:ext cx="365760" cy="365760"/>
          </a:xfrm>
          <a:prstGeom prst="ellipse">
            <a:avLst/>
          </a:prstGeom>
          <a:solidFill>
            <a:srgbClr val="121B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4D399"/>
                </a:solidFill>
                <a:latin typeface="Segoe UI Semibol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37176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"/>
              </a:rPr>
              <a:t>Honest generalization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29992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Multi-dataset design reports the distribution-shift gap, not just one accuracy number.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087368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0" y="4315968"/>
            <a:ext cx="365760" cy="365760"/>
          </a:xfrm>
          <a:prstGeom prst="ellipse">
            <a:avLst/>
          </a:prstGeom>
          <a:solidFill>
            <a:srgbClr val="121B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4D399"/>
                </a:solidFill>
                <a:latin typeface="Segoe UI Semibol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37176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"/>
              </a:rPr>
              <a:t>Fully offline-capable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49240"/>
            <a:ext cx="29992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SHAP/LLM layers degrade gracefully with zero external dependency.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4087368"/>
            <a:ext cx="3456432" cy="1920240"/>
          </a:xfrm>
          <a:prstGeom prst="roundRect">
            <a:avLst>
              <a:gd name="adj" fmla="val 5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0" y="4315968"/>
            <a:ext cx="365760" cy="365760"/>
          </a:xfrm>
          <a:prstGeom prst="ellipse">
            <a:avLst/>
          </a:prstGeom>
          <a:solidFill>
            <a:srgbClr val="121B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4D399"/>
                </a:solidFill>
                <a:latin typeface="Segoe UI Semibold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37176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9EEFA"/>
                </a:solidFill>
                <a:latin typeface="Segoe UI"/>
              </a:rPr>
              <a:t>A real, running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349240"/>
            <a:ext cx="299923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9BA8C7"/>
                </a:solidFill>
                <a:latin typeface="Segoe UI"/>
              </a:rPr>
              <a:t>FastAPI + Next.js full stack, 19 automated tests passing.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194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2194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6B799A"/>
                </a:solidFill>
                <a:latin typeface="Consolas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E9EEFA"/>
                </a:solidFill>
                <a:latin typeface="Segoe UI Semibold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2DD4BF"/>
                </a:solidFill>
                <a:latin typeface="Segoe UI Semibold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BA8C7"/>
                </a:solidFill>
                <a:latin typeface="Segoe UI"/>
              </a:rPr>
              <a:t>NetSentry — Explainable Network Intrusion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148840"/>
            <a:ext cx="3246120" cy="3063240"/>
          </a:xfrm>
          <a:prstGeom prst="roundRect">
            <a:avLst>
              <a:gd name="adj" fmla="val 6000"/>
            </a:avLst>
          </a:prstGeom>
          <a:solidFill>
            <a:srgbClr val="0E1526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23591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B799A"/>
                </a:solidFill>
                <a:latin typeface="Consolas"/>
              </a:rPr>
              <a:t>PROJECT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697480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2D3EE"/>
                </a:solidFill>
                <a:latin typeface="Segoe UI Semibold"/>
              </a:rPr>
              <a:t>97.6%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0815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BA8C7"/>
                </a:solidFill>
                <a:latin typeface="Segoe UI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264408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DD4BF"/>
                </a:solidFill>
                <a:latin typeface="Segoe UI Semibold"/>
              </a:rPr>
              <a:t>0.971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48456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BA8C7"/>
                </a:solidFill>
                <a:latin typeface="Segoe UI"/>
              </a:rPr>
              <a:t>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831336"/>
            <a:ext cx="1463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34D399"/>
                </a:solidFill>
                <a:latin typeface="Segoe UI Semibold"/>
              </a:rPr>
              <a:t>19/19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21538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BA8C7"/>
                </a:solidFill>
                <a:latin typeface="Segoe UI"/>
              </a:rPr>
              <a:t>tests passing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4471416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0E1526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0" i="0">
                <a:solidFill>
                  <a:srgbClr val="34D399"/>
                </a:solidFill>
                <a:latin typeface="Consolas"/>
              </a:rPr>
              <a:t>●  live system — not a notebook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